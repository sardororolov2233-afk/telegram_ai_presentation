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6"/>
  </p:notesMasterIdLst>
  <p:handoutMasterIdLst>
    <p:handoutMasterId r:id="rId7"/>
  </p:handoutMasterIdLst>
  <p:sldIdLst>
    <p:sldId id="305" r:id="rId13"/>
    <p:sldId id="306" r:id="rId14"/>
    <p:sldId id="307" r:id="rId15"/>
    <p:sldId id="308" r:id="rId16"/>
    <p:sldId id="309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9826E-6FA1-45C0-8397-EA12C5782664}" v="13" dt="2026-03-12T06:50:46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5" autoAdjust="0"/>
    <p:restoredTop sz="96368" autoAdjust="0"/>
  </p:normalViewPr>
  <p:slideViewPr>
    <p:cSldViewPr>
      <p:cViewPr>
        <p:scale>
          <a:sx n="100" d="100"/>
          <a:sy n="100" d="100"/>
        </p:scale>
        <p:origin x="96" y="-54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3/11/2026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3/11/2026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Salom, bugun biz AI haqida gaplashamiz.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asosiy yo'nalishlari haqida.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Ta'lim sohasida AI qo'llanilishi.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ta'limdagi afzalliklari.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Yakuniy xulosalar.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F2AB60-3F8C-B205-0E32-B5E61218EA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6080697 w 12188825"/>
              <a:gd name="connsiteY1" fmla="*/ 0 h 6858000"/>
              <a:gd name="connsiteX2" fmla="*/ 6080697 w 12188825"/>
              <a:gd name="connsiteY2" fmla="*/ 2898648 h 6858000"/>
              <a:gd name="connsiteX3" fmla="*/ 6108129 w 12188825"/>
              <a:gd name="connsiteY3" fmla="*/ 2898648 h 6858000"/>
              <a:gd name="connsiteX4" fmla="*/ 6108129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6080697" y="0"/>
                </a:lnTo>
                <a:lnTo>
                  <a:pt x="6080697" y="2898648"/>
                </a:lnTo>
                <a:lnTo>
                  <a:pt x="6108129" y="2898648"/>
                </a:lnTo>
                <a:lnTo>
                  <a:pt x="6108129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988" y="2743200"/>
            <a:ext cx="11356848" cy="1627632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defRPr sz="66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 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680" y="4901184"/>
            <a:ext cx="9427464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24B88-F571-25BB-4513-3A17217DC2E5}"/>
              </a:ext>
            </a:extLst>
          </p:cNvPr>
          <p:cNvSpPr/>
          <p:nvPr userDrawn="1"/>
        </p:nvSpPr>
        <p:spPr>
          <a:xfrm rot="5400000">
            <a:off x="4645088" y="1435608"/>
            <a:ext cx="2898648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8577" y="0"/>
            <a:ext cx="4270248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AF402F-F8C6-E5B1-65C7-DFC0D8ED0878}"/>
              </a:ext>
            </a:extLst>
          </p:cNvPr>
          <p:cNvCxnSpPr>
            <a:cxnSpLocks/>
          </p:cNvCxnSpPr>
          <p:nvPr userDrawn="1"/>
        </p:nvCxnSpPr>
        <p:spPr>
          <a:xfrm>
            <a:off x="1522413" y="2743200"/>
            <a:ext cx="0" cy="41148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0" y="2743200"/>
            <a:ext cx="5102352" cy="215798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91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20660" y="2386584"/>
            <a:ext cx="9747504" cy="401421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196DA-ED88-0EDC-A28F-7426416C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660" y="640080"/>
            <a:ext cx="9747504" cy="1625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04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355848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8808" y="2862072"/>
            <a:ext cx="7397496" cy="157276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808" y="640080"/>
            <a:ext cx="7397496" cy="1773936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5E17843-7672-6C71-1608-D794830CE8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60520" y="4846320"/>
            <a:ext cx="7397496" cy="117043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 sz="12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2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717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15400" y="0"/>
            <a:ext cx="2587752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2679192"/>
            <a:ext cx="7242048" cy="117043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856CD97-B46D-FEB2-B35C-2890C62DB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4059936"/>
            <a:ext cx="7242048" cy="2130552"/>
          </a:xfrm>
        </p:spPr>
        <p:txBody>
          <a:bodyPr>
            <a:normAutofit/>
          </a:bodyPr>
          <a:lstStyle>
            <a:lvl1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9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57CF4D-A5B0-F63D-3033-42520894BF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88825" cy="6858000"/>
          </a:xfrm>
          <a:custGeom>
            <a:avLst/>
            <a:gdLst>
              <a:gd name="connsiteX0" fmla="*/ 4759389 w 12188825"/>
              <a:gd name="connsiteY0" fmla="*/ 4787265 h 6858000"/>
              <a:gd name="connsiteX1" fmla="*/ 4759389 w 12188825"/>
              <a:gd name="connsiteY1" fmla="*/ 4814697 h 6858000"/>
              <a:gd name="connsiteX2" fmla="*/ 7429437 w 12188825"/>
              <a:gd name="connsiteY2" fmla="*/ 4814697 h 6858000"/>
              <a:gd name="connsiteX3" fmla="*/ 7429437 w 12188825"/>
              <a:gd name="connsiteY3" fmla="*/ 4787265 h 6858000"/>
              <a:gd name="connsiteX4" fmla="*/ 0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4759389" y="4787265"/>
                </a:moveTo>
                <a:lnTo>
                  <a:pt x="4759389" y="4814697"/>
                </a:lnTo>
                <a:lnTo>
                  <a:pt x="7429437" y="4814697"/>
                </a:lnTo>
                <a:lnTo>
                  <a:pt x="7429437" y="4787265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988" y="3657600"/>
            <a:ext cx="11356848" cy="941832"/>
          </a:xfrm>
        </p:spPr>
        <p:txBody>
          <a:bodyPr anchor="t">
            <a:normAutofit/>
          </a:bodyPr>
          <a:lstStyle>
            <a:lvl1pPr algn="ctr">
              <a:lnSpc>
                <a:spcPct val="90000"/>
              </a:lnSpc>
              <a:defRPr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680" y="5129784"/>
            <a:ext cx="9427464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6E071-6E0A-A6A5-AC43-072450B96555}"/>
              </a:ext>
            </a:extLst>
          </p:cNvPr>
          <p:cNvSpPr/>
          <p:nvPr userDrawn="1"/>
        </p:nvSpPr>
        <p:spPr>
          <a:xfrm>
            <a:off x="4759388" y="4787265"/>
            <a:ext cx="2670048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6CCC78F-07A7-7F5C-E67F-2CFC846E0DE1}"/>
              </a:ext>
            </a:extLst>
          </p:cNvPr>
          <p:cNvSpPr/>
          <p:nvPr userDrawn="1"/>
        </p:nvSpPr>
        <p:spPr>
          <a:xfrm>
            <a:off x="3813048" y="612648"/>
            <a:ext cx="7635240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7FFB3F-B685-7C31-5080-632B0441EA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906256" cy="6858000"/>
          </a:xfrm>
          <a:custGeom>
            <a:avLst/>
            <a:gdLst>
              <a:gd name="connsiteX0" fmla="*/ 0 w 8906256"/>
              <a:gd name="connsiteY0" fmla="*/ 0 h 6858000"/>
              <a:gd name="connsiteX1" fmla="*/ 8906256 w 8906256"/>
              <a:gd name="connsiteY1" fmla="*/ 0 h 6858000"/>
              <a:gd name="connsiteX2" fmla="*/ 8906256 w 8906256"/>
              <a:gd name="connsiteY2" fmla="*/ 612648 h 6858000"/>
              <a:gd name="connsiteX3" fmla="*/ 4945285 w 8906256"/>
              <a:gd name="connsiteY3" fmla="*/ 612648 h 6858000"/>
              <a:gd name="connsiteX4" fmla="*/ 3813048 w 8906256"/>
              <a:gd name="connsiteY4" fmla="*/ 612648 h 6858000"/>
              <a:gd name="connsiteX5" fmla="*/ 3813048 w 8906256"/>
              <a:gd name="connsiteY5" fmla="*/ 6099048 h 6858000"/>
              <a:gd name="connsiteX6" fmla="*/ 4945285 w 8906256"/>
              <a:gd name="connsiteY6" fmla="*/ 6099048 h 6858000"/>
              <a:gd name="connsiteX7" fmla="*/ 8906256 w 8906256"/>
              <a:gd name="connsiteY7" fmla="*/ 6099048 h 6858000"/>
              <a:gd name="connsiteX8" fmla="*/ 8906256 w 8906256"/>
              <a:gd name="connsiteY8" fmla="*/ 6858000 h 6858000"/>
              <a:gd name="connsiteX9" fmla="*/ 0 w 8906256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06256" h="6858000">
                <a:moveTo>
                  <a:pt x="0" y="0"/>
                </a:moveTo>
                <a:lnTo>
                  <a:pt x="8906256" y="0"/>
                </a:lnTo>
                <a:lnTo>
                  <a:pt x="8906256" y="612648"/>
                </a:lnTo>
                <a:lnTo>
                  <a:pt x="4945285" y="612648"/>
                </a:lnTo>
                <a:lnTo>
                  <a:pt x="3813048" y="612648"/>
                </a:lnTo>
                <a:lnTo>
                  <a:pt x="3813048" y="6099048"/>
                </a:lnTo>
                <a:lnTo>
                  <a:pt x="4945285" y="6099048"/>
                </a:lnTo>
                <a:lnTo>
                  <a:pt x="8906256" y="6099048"/>
                </a:lnTo>
                <a:lnTo>
                  <a:pt x="89062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A4DAAA-F386-CC30-C391-320517CB5974}"/>
              </a:ext>
            </a:extLst>
          </p:cNvPr>
          <p:cNvCxnSpPr>
            <a:cxnSpLocks/>
          </p:cNvCxnSpPr>
          <p:nvPr userDrawn="1"/>
        </p:nvCxnSpPr>
        <p:spPr>
          <a:xfrm>
            <a:off x="4570412" y="3886200"/>
            <a:ext cx="687185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9B1E0A-D5BC-6920-B6F6-E799F22323B0}"/>
              </a:ext>
            </a:extLst>
          </p:cNvPr>
          <p:cNvCxnSpPr>
            <a:cxnSpLocks/>
          </p:cNvCxnSpPr>
          <p:nvPr userDrawn="1"/>
        </p:nvCxnSpPr>
        <p:spPr>
          <a:xfrm>
            <a:off x="11444684" y="3886200"/>
            <a:ext cx="74414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4840" y="1389888"/>
            <a:ext cx="6327648" cy="230428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4A24C6E-B46B-052B-14AF-08C705E5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0368" y="3813048"/>
            <a:ext cx="2112264" cy="7112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03DA3C-F09E-61FF-139B-5014478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0368" y="4617720"/>
            <a:ext cx="1901952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16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D23143E-34D4-7916-690C-3BE380588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74152" y="3813048"/>
            <a:ext cx="1901952" cy="711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FEC2F71-3E9B-0E18-C638-41C2B0C8D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74152" y="4617720"/>
            <a:ext cx="1901952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16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54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444752"/>
            <a:ext cx="10360152" cy="4416552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0" y="5495544"/>
            <a:ext cx="4494212" cy="484632"/>
          </a:xfr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B62AAD-BDB5-5645-A722-E6A8180BB714}"/>
              </a:ext>
            </a:extLst>
          </p:cNvPr>
          <p:cNvCxnSpPr>
            <a:cxnSpLocks/>
          </p:cNvCxnSpPr>
          <p:nvPr userDrawn="1"/>
        </p:nvCxnSpPr>
        <p:spPr>
          <a:xfrm>
            <a:off x="7618412" y="6172200"/>
            <a:ext cx="4570413" cy="0"/>
          </a:xfrm>
          <a:prstGeom prst="line">
            <a:avLst/>
          </a:prstGeom>
          <a:ln w="254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4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3C4F48-5124-C46E-5828-45F6F65E000F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88825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0"/>
            <a:ext cx="2587752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414016"/>
            <a:ext cx="7013448" cy="3374136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1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7409" y="0"/>
            <a:ext cx="4471416" cy="6858000"/>
          </a:xfrm>
          <a:solidFill>
            <a:schemeClr val="accent1"/>
          </a:solidFill>
        </p:spPr>
        <p:txBody>
          <a:bodyPr anchor="t">
            <a:noAutofit/>
          </a:bodyPr>
          <a:lstStyle>
            <a:lvl1pPr marL="0" indent="0" algn="ctr">
              <a:buNone/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3172968"/>
            <a:ext cx="5102352" cy="2029968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058072-A976-BB1B-E73B-039CA4102FD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667000"/>
            <a:ext cx="7722689" cy="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65D0A25-C9DB-7306-466C-DFD2401F85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02168" y="3172968"/>
            <a:ext cx="3255264" cy="2688336"/>
          </a:xfrm>
        </p:spPr>
        <p:txBody>
          <a:bodyPr lIns="91440" tIns="0">
            <a:noAutofit/>
          </a:bodyPr>
          <a:lstStyle>
            <a:lvl1pPr marL="0" indent="0">
              <a:buNone/>
              <a:defRPr sz="24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>
              <a:spcBef>
                <a:spcPts val="1800"/>
              </a:spcBef>
              <a:buNone/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239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E998D3-1DC1-ED0C-84CE-D3710A6AE4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4341813 w 12188825"/>
              <a:gd name="connsiteY1" fmla="*/ 0 h 6858000"/>
              <a:gd name="connsiteX2" fmla="*/ 4341813 w 12188825"/>
              <a:gd name="connsiteY2" fmla="*/ 4745736 h 6858000"/>
              <a:gd name="connsiteX3" fmla="*/ 4369245 w 12188825"/>
              <a:gd name="connsiteY3" fmla="*/ 4745736 h 6858000"/>
              <a:gd name="connsiteX4" fmla="*/ 4369245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4341813" y="0"/>
                </a:lnTo>
                <a:lnTo>
                  <a:pt x="4341813" y="4745736"/>
                </a:lnTo>
                <a:lnTo>
                  <a:pt x="4369245" y="4745736"/>
                </a:lnTo>
                <a:lnTo>
                  <a:pt x="4369245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640080"/>
            <a:ext cx="3200400" cy="2084832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AA1D0-9CC9-4F01-19B8-029FF0FF1254}"/>
              </a:ext>
            </a:extLst>
          </p:cNvPr>
          <p:cNvSpPr/>
          <p:nvPr userDrawn="1"/>
        </p:nvSpPr>
        <p:spPr>
          <a:xfrm rot="5400000">
            <a:off x="1982661" y="2359152"/>
            <a:ext cx="4745736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D20188-2858-4017-16C7-8D8B2EB783A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3753" y="850260"/>
            <a:ext cx="2276856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351FF95-77DF-46F6-7673-71454E42D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3753" y="1380612"/>
            <a:ext cx="2276856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585749F-5840-3B72-40A1-A68404430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753" y="2807076"/>
            <a:ext cx="2276856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A075B67-81C5-7714-2DF6-B942F8060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753" y="3291708"/>
            <a:ext cx="2276856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811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48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8883" y="1803400"/>
            <a:ext cx="660228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8739" y="1925320"/>
            <a:ext cx="6362567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1"/>
            <a:ext cx="2844060" cy="41656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162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2362200"/>
            <a:ext cx="9751060" cy="370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183112" y="5413248"/>
            <a:ext cx="1298448" cy="2194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CLASSICAL LITERATURE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5572" y="6245352"/>
            <a:ext cx="54864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30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66" r:id="rId2"/>
    <p:sldLayoutId id="2147483767" r:id="rId3"/>
    <p:sldLayoutId id="2147483768" r:id="rId4"/>
    <p:sldLayoutId id="2147483769" r:id="rId5"/>
    <p:sldLayoutId id="2147483759" r:id="rId6"/>
    <p:sldLayoutId id="2147483770" r:id="rId7"/>
    <p:sldLayoutId id="2147483771" r:id="rId8"/>
    <p:sldLayoutId id="2147483772" r:id="rId9"/>
    <p:sldLayoutId id="2147483774" r:id="rId10"/>
    <p:sldLayoutId id="2147483775" r:id="rId11"/>
    <p:sldLayoutId id="2147483762" r:id="rId12"/>
    <p:sldLayoutId id="2147483763" r:id="rId13"/>
    <p:sldLayoutId id="2147483764" r:id="rId14"/>
    <p:sldLayoutId id="2147483765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4800" kern="1200" cap="all" spc="100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50000"/>
          </a:schemeClr>
        </a:buClr>
        <a:buFont typeface="Arial" pitchFamily="34" charset="0"/>
        <a:buChar char="•"/>
        <a:defRPr sz="24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20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8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Placeholder 5" descr="Wooden library">
            <a:extLst>
              <a:ext uri="{FF2B5EF4-FFF2-40B4-BE49-F238E27FC236}">
                <a16:creationId xmlns:a16="http://schemas.microsoft.com/office/drawing/2014/main" id="{B2CFDBFB-F04E-9E7A-5F81-0667FBC143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  <a14:imgEffect>
                      <a14:brightnessContrast bright="-60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Sun'iy Intellekt va Ta'lim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Kelajak texnologiyalari haqida taqdimot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Placeholder 5" descr="Wooden library">
            <a:extLst>
              <a:ext uri="{FF2B5EF4-FFF2-40B4-BE49-F238E27FC236}">
                <a16:creationId xmlns:a16="http://schemas.microsoft.com/office/drawing/2014/main" id="{B2CFDBFB-F04E-9E7A-5F81-0667FBC143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  <a14:imgEffect>
                      <a14:brightnessContrast bright="-60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nima?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Mashina o'rganishi (Machine Learning)</a:t>
            </a:r>
            <a:endParaRPr lang="en-US" dirty="0"/>
          </a:p>
          <a:p>
            <a:pPr/>
            <a:r>
              <a:t>Chuqur o'rganish (Deep Learning)</a:t>
            </a:r>
          </a:p>
          <a:p>
            <a:pPr/>
            <a:r>
              <a:t>Tabiiy tilni qayta ishlash (NLP)</a:t>
            </a:r>
          </a:p>
          <a:p>
            <a:pPr/>
            <a:r>
              <a:t>Kompyuter ko'rishi (Computer Vision)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Placeholder 5" descr="Wooden library">
            <a:extLst>
              <a:ext uri="{FF2B5EF4-FFF2-40B4-BE49-F238E27FC236}">
                <a16:creationId xmlns:a16="http://schemas.microsoft.com/office/drawing/2014/main" id="{B2CFDBFB-F04E-9E7A-5F81-0667FBC143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  <a14:imgEffect>
                      <a14:brightnessContrast bright="-60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Ta'limda AI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Shaxsiylashtirilgan ta'lim dasturlari</a:t>
            </a:r>
            <a:endParaRPr lang="en-US" dirty="0"/>
          </a:p>
          <a:p>
            <a:pPr/>
            <a:r>
              <a:t>Avtomatik baholash tizimlari</a:t>
            </a:r>
          </a:p>
          <a:p>
            <a:pPr/>
            <a:r>
              <a:t>Virtual assistentlar va chatbotlar</a:t>
            </a:r>
          </a:p>
          <a:p>
            <a:pPr/>
            <a:r>
              <a:t>Adaptiv o'quv platformalari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Placeholder 5" descr="Wooden library">
            <a:extLst>
              <a:ext uri="{FF2B5EF4-FFF2-40B4-BE49-F238E27FC236}">
                <a16:creationId xmlns:a16="http://schemas.microsoft.com/office/drawing/2014/main" id="{B2CFDBFB-F04E-9E7A-5F81-0667FBC143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  <a14:imgEffect>
                      <a14:brightnessContrast bright="-60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Afzalliklari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Vaqtni tejash va samaradorlik</a:t>
            </a:r>
            <a:endParaRPr lang="en-US" dirty="0"/>
          </a:p>
          <a:p>
            <a:pPr/>
            <a:r>
              <a:t>Individual yondashuv har bir talabaga</a:t>
            </a:r>
          </a:p>
          <a:p>
            <a:pPr/>
            <a:r>
              <a:t>24/7 qo'llab-quvvatlash imkoniyati</a:t>
            </a:r>
          </a:p>
          <a:p>
            <a:pPr/>
            <a:r>
              <a:t>Katta hajmdagi ma'lumotlarni tahlil qilish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Placeholder 5" descr="Wooden library">
            <a:extLst>
              <a:ext uri="{FF2B5EF4-FFF2-40B4-BE49-F238E27FC236}">
                <a16:creationId xmlns:a16="http://schemas.microsoft.com/office/drawing/2014/main" id="{B2CFDBFB-F04E-9E7A-5F81-0667FBC143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  <a14:imgEffect>
                      <a14:brightnessContrast bright="-60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AI ta'lim sohasini tubdan o'zgartirmoqda</a:t>
            </a:r>
            <a:endParaRPr lang="en-US" dirty="0"/>
          </a:p>
          <a:p>
            <a:pPr/>
            <a:r>
              <a:t>Kelajakda yanada ko'proq innovatsiyalar kutilmoqda</a:t>
            </a:r>
          </a:p>
          <a:p>
            <a:pPr/>
            <a:r>
              <a:t>Har bir o'qituvchi AI vositalarini o'rganishi lozim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Custom 71">
      <a:dk1>
        <a:srgbClr val="000000"/>
      </a:dk1>
      <a:lt1>
        <a:srgbClr val="FFFFFF"/>
      </a:lt1>
      <a:dk2>
        <a:srgbClr val="693A20"/>
      </a:dk2>
      <a:lt2>
        <a:srgbClr val="E7E4E6"/>
      </a:lt2>
      <a:accent1>
        <a:srgbClr val="512823"/>
      </a:accent1>
      <a:accent2>
        <a:srgbClr val="B98D34"/>
      </a:accent2>
      <a:accent3>
        <a:srgbClr val="610606"/>
      </a:accent3>
      <a:accent4>
        <a:srgbClr val="FFEDB9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ustom 89">
      <a:majorFont>
        <a:latin typeface="Book Antiqua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059_win32" id="{B9608E06-0E1C-4FCC-AD06-127F62156083}" vid="{E3429AF7-B683-4F9F-966A-561A66620435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2248D4-E1D7-4A46-906C-BF5695DAFBD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C48CD00-9A74-4333-9CB3-8A0E40B746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6DB67A-7E7A-42B5-B6D4-8BCE2AED44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Books Classic 16x9</Template>
  <TotalTime>0</TotalTime>
  <Words>308</Words>
  <Application>Microsoft Office PowerPoint</Application>
  <PresentationFormat>Buyurtma</PresentationFormat>
  <Paragraphs>78</Paragraphs>
  <Slides>1</Slides>
  <Notes>0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1</vt:i4>
      </vt:variant>
    </vt:vector>
  </HeadingPairs>
  <TitlesOfParts>
    <vt:vector size="2" baseType="lpstr">
      <vt:lpstr>Books Classic 16x9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2026-03-12T06:50:15Z</dcterms:created>
  <dcterms:modified xsi:type="dcterms:W3CDTF">2026-03-12T06:50:53Z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